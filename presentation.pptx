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Telegraf Bold" charset="1" panose="00000800000000000000"/>
      <p:regular r:id="rId30"/>
    </p:embeddedFont>
    <p:embeddedFont>
      <p:font typeface="Poppins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1177685"/>
            <a:ext cx="12179177" cy="738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EDA Project – Spotify 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1119840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5734" y="2072686"/>
            <a:ext cx="8620014" cy="5711202"/>
          </a:xfrm>
          <a:custGeom>
            <a:avLst/>
            <a:gdLst/>
            <a:ahLst/>
            <a:cxnLst/>
            <a:rect r="r" b="b" t="t" l="l"/>
            <a:pathLst>
              <a:path h="5711202" w="8620014">
                <a:moveTo>
                  <a:pt x="0" y="0"/>
                </a:moveTo>
                <a:lnTo>
                  <a:pt x="8620014" y="0"/>
                </a:lnTo>
                <a:lnTo>
                  <a:pt x="8620014" y="5711202"/>
                </a:lnTo>
                <a:lnTo>
                  <a:pt x="0" y="57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880614"/>
            <a:ext cx="8412729" cy="533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distribution is highly right-skewed, with the vast majority of songs having very low popularity and only a few achieving high scores.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Playback Concentration: Listening activity is likely dominated by the few "hit" tracks. Core engagement may rely on this small song pool.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Discovery Engine is Critical: The player's main challenge is surfacing relevant tracks from the massive "long-tail" (left side) to prevent user boredom.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Engagement Metrics: The "average" popularity score is misleading. Use the median (near 0) to understand the typical track's performance.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239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5919" spc="-26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Understanding Track Popularity Score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6790" y="2381063"/>
            <a:ext cx="7783812" cy="5524873"/>
          </a:xfrm>
          <a:custGeom>
            <a:avLst/>
            <a:gdLst/>
            <a:ahLst/>
            <a:cxnLst/>
            <a:rect r="r" b="b" t="t" l="l"/>
            <a:pathLst>
              <a:path h="5524873" w="7783812">
                <a:moveTo>
                  <a:pt x="0" y="0"/>
                </a:moveTo>
                <a:lnTo>
                  <a:pt x="7783812" y="0"/>
                </a:lnTo>
                <a:lnTo>
                  <a:pt x="7783812" y="5524874"/>
                </a:lnTo>
                <a:lnTo>
                  <a:pt x="0" y="5524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460646"/>
            <a:ext cx="8412729" cy="533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typical (median) song duration is 4.04 minutes, but the data is highly skewed by many long outliers.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Listening Experience: The main user experience is built around songs in the 3-5 minute range (the green box).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Handling Outliers: The many "outlier" dots are likely podcasts or DJ mixes. These must be tagged to avoid breaking song-only features.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Impact (Shuffle/Radio): Playing these long outliers during a "shuffle" or "radio" session would create a poor user experience. They must be filtered.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63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5919" spc="-266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Song Duration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9440" y="2287899"/>
            <a:ext cx="8501769" cy="5711202"/>
          </a:xfrm>
          <a:custGeom>
            <a:avLst/>
            <a:gdLst/>
            <a:ahLst/>
            <a:cxnLst/>
            <a:rect r="r" b="b" t="t" l="l"/>
            <a:pathLst>
              <a:path h="5711202" w="8501769">
                <a:moveTo>
                  <a:pt x="0" y="0"/>
                </a:moveTo>
                <a:lnTo>
                  <a:pt x="8501769" y="0"/>
                </a:lnTo>
                <a:lnTo>
                  <a:pt x="8501769" y="5711202"/>
                </a:lnTo>
                <a:lnTo>
                  <a:pt x="0" y="57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267159"/>
            <a:ext cx="8412729" cy="571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distribution of musical keys is uneven, with keys 0, 7, 2, and 5 being significantly more frequent than others.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Playlist/Radio Flow: Smart playlists can create better harmonic flow by sequencing tracks in common, related keys like 0, 7, and 5.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Music Discovery: The player can break user listening ruts by actively recommending high-quality tracks from rarer keys (like 3, 6, and 8).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Development: The data supports a "harmonic mixing" feature, as key is known for most tracks. This appeals to DJs and power-users.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52964"/>
            <a:ext cx="7703277" cy="159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5"/>
              </a:lnSpc>
            </a:pPr>
            <a:r>
              <a:rPr lang="en-US" sz="5819" spc="-261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Musical Key Frequency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2307" y="2287899"/>
            <a:ext cx="8501769" cy="5711202"/>
          </a:xfrm>
          <a:custGeom>
            <a:avLst/>
            <a:gdLst/>
            <a:ahLst/>
            <a:cxnLst/>
            <a:rect r="r" b="b" t="t" l="l"/>
            <a:pathLst>
              <a:path h="5711202" w="8501769">
                <a:moveTo>
                  <a:pt x="0" y="0"/>
                </a:moveTo>
                <a:lnTo>
                  <a:pt x="8501769" y="0"/>
                </a:lnTo>
                <a:lnTo>
                  <a:pt x="8501769" y="5711202"/>
                </a:lnTo>
                <a:lnTo>
                  <a:pt x="0" y="57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184421"/>
            <a:ext cx="8412729" cy="571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distribution is bimodal (two-peaked), showing a major cluster of songs around 125 BPM and a smaller, secondary cluster around 170 BPM.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Two Core Energy Levels: The library has two distinct energy groups, perfect for separate "mid-tempo" and "high-energy" radio stations.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ual Playlist Opportunity: These two peaks are ideal for contextual playlists, such as "Jogging" (125 BPM) and "Running" (170 BPM) modes.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Shuffl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e/Radio Experience: The 125 BPM peak is the "default" tempo. A standard shuffle mode will heavily favor this mid-fast energy level.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52964"/>
            <a:ext cx="7703277" cy="159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5"/>
              </a:lnSpc>
            </a:pPr>
            <a:r>
              <a:rPr lang="en-US" sz="5819" spc="-261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Song Tempo (BPM) Clusters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8130" y="2262458"/>
            <a:ext cx="7370902" cy="5762083"/>
          </a:xfrm>
          <a:custGeom>
            <a:avLst/>
            <a:gdLst/>
            <a:ahLst/>
            <a:cxnLst/>
            <a:rect r="r" b="b" t="t" l="l"/>
            <a:pathLst>
              <a:path h="5762083" w="7370902">
                <a:moveTo>
                  <a:pt x="0" y="0"/>
                </a:moveTo>
                <a:lnTo>
                  <a:pt x="7370902" y="0"/>
                </a:lnTo>
                <a:lnTo>
                  <a:pt x="7370902" y="5762084"/>
                </a:lnTo>
                <a:lnTo>
                  <a:pt x="0" y="5762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184421"/>
            <a:ext cx="8412729" cy="609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dataset leans heavily towards low acousticness (electronic/produced) sounds, which make up just over half (51.2%) of all tracks.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Library Vibe: The player’s core library (51.2%) is electronic and produced, defining the default "vibe" for shuffle play.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 Segmentation: The "High" (20.2%) and "Low" (51.2%) groups represent different moods. They should not be mixed in auto-generated playlists.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Recommendation Opportunity: The "Moderate" group (28.6%) is a key bridge, useful for transitioning users between electronic and acoustic genres.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52964"/>
            <a:ext cx="7703277" cy="385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5"/>
              </a:lnSpc>
            </a:pPr>
            <a:r>
              <a:rPr lang="en-US" sz="5819" spc="-261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Track Acousticness Levels</a:t>
            </a:r>
          </a:p>
          <a:p>
            <a:pPr algn="l">
              <a:lnSpc>
                <a:spcPts val="5935"/>
              </a:lnSpc>
            </a:pPr>
          </a:p>
          <a:p>
            <a:pPr algn="l">
              <a:lnSpc>
                <a:spcPts val="5935"/>
              </a:lnSpc>
            </a:pPr>
          </a:p>
          <a:p>
            <a:pPr algn="l">
              <a:lnSpc>
                <a:spcPts val="593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6111" y="2384829"/>
            <a:ext cx="7694160" cy="5517342"/>
          </a:xfrm>
          <a:custGeom>
            <a:avLst/>
            <a:gdLst/>
            <a:ahLst/>
            <a:cxnLst/>
            <a:rect r="r" b="b" t="t" l="l"/>
            <a:pathLst>
              <a:path h="5517342" w="7694160">
                <a:moveTo>
                  <a:pt x="0" y="0"/>
                </a:moveTo>
                <a:lnTo>
                  <a:pt x="7694160" y="0"/>
                </a:lnTo>
                <a:lnTo>
                  <a:pt x="7694160" y="5517342"/>
                </a:lnTo>
                <a:lnTo>
                  <a:pt x="0" y="551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160885"/>
            <a:ext cx="8412729" cy="571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distribution is left-skewed, meaning most songs have a moderately high danceability score, with the typical track falling between 0.5 and 0.73.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High-Energy Default: The high median (~0.63) means the player’s default shuffle "feels" energetic, which is great for active-listening users.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 Segmentation: The main box (0.5-0.73) is perfect for "Workout" stations. The left tail (low scores) is for "Chill" modes.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4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Song Danceability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2318" y="2291407"/>
            <a:ext cx="8520627" cy="5704186"/>
          </a:xfrm>
          <a:custGeom>
            <a:avLst/>
            <a:gdLst/>
            <a:ahLst/>
            <a:cxnLst/>
            <a:rect r="r" b="b" t="t" l="l"/>
            <a:pathLst>
              <a:path h="5704186" w="8520627">
                <a:moveTo>
                  <a:pt x="0" y="0"/>
                </a:moveTo>
                <a:lnTo>
                  <a:pt x="8520627" y="0"/>
                </a:lnTo>
                <a:lnTo>
                  <a:pt x="8520627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077021"/>
            <a:ext cx="8412729" cy="647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distribution is left-skewed, with the overwhelming majority of songs having high energy levels, peaking around 0.75-0.85.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High-Energy Default: The player’s default experience is high-energy. This is perfect for "Workout" or "Party" radio stations.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 Purity: The small low-energy cluster (near 0.1) must be filtered from high-energy playlists to avoid ruining the vibe.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uffle Experience: With a high median energy (~0.64), a standard "shuffle play" will almost always feel energetic and upbeat.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Track Energy Distribution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45632" y="1497533"/>
            <a:ext cx="8046758" cy="6771053"/>
          </a:xfrm>
          <a:custGeom>
            <a:avLst/>
            <a:gdLst/>
            <a:ahLst/>
            <a:cxnLst/>
            <a:rect r="r" b="b" t="t" l="l"/>
            <a:pathLst>
              <a:path h="6771053" w="8046758">
                <a:moveTo>
                  <a:pt x="0" y="0"/>
                </a:moveTo>
                <a:lnTo>
                  <a:pt x="8046759" y="0"/>
                </a:lnTo>
                <a:lnTo>
                  <a:pt x="8046759" y="6771052"/>
                </a:lnTo>
                <a:lnTo>
                  <a:pt x="0" y="677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077021"/>
            <a:ext cx="8412729" cy="533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music is overwhelmingly dominated by a 4/4 time signature (bar "4"), with 3/4 time (bar "3") as a distant second.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Uniform Rhythmic Feel: The library's "default feel" is 4/4 time (bar "4"). This makes shuffle play rhythmically predictable and familiar.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Niche 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 Opportunity: Tracks in 3/4 (waltzes) and 5/4 (prog/jazz) are rhythmic outliers, perfect for creating unique, genre-specific playlists.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426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Time Signature Distribution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028700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775" y="2349333"/>
            <a:ext cx="8936218" cy="5260937"/>
          </a:xfrm>
          <a:custGeom>
            <a:avLst/>
            <a:gdLst/>
            <a:ahLst/>
            <a:cxnLst/>
            <a:rect r="r" b="b" t="t" l="l"/>
            <a:pathLst>
              <a:path h="5260937" w="8936218">
                <a:moveTo>
                  <a:pt x="0" y="0"/>
                </a:moveTo>
                <a:lnTo>
                  <a:pt x="8936218" y="0"/>
                </a:lnTo>
                <a:lnTo>
                  <a:pt x="8936218" y="5260938"/>
                </a:lnTo>
                <a:lnTo>
                  <a:pt x="0" y="5260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063076"/>
            <a:ext cx="8531598" cy="426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5"/>
              </a:lnSpc>
            </a:pPr>
            <a:r>
              <a:rPr lang="en-US" sz="2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distribution is extremely right-skewed, showing most tracks are purely musical (speechiness near 0), with a small tail of spoken-word content.</a:t>
            </a:r>
          </a:p>
          <a:p>
            <a:pPr algn="just">
              <a:lnSpc>
                <a:spcPts val="3115"/>
              </a:lnSpc>
            </a:pPr>
          </a:p>
          <a:p>
            <a:pPr algn="just" marL="480438" indent="-240219" lvl="1">
              <a:lnSpc>
                <a:spcPts val="3115"/>
              </a:lnSpc>
              <a:buFont typeface="Arial"/>
              <a:buChar char="•"/>
            </a:pPr>
            <a:r>
              <a:rPr lang="en-US" sz="2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 Separation: The library has two distinct products: music (cluster at 0.0) and spoken word (outliers &gt; 0.3).</a:t>
            </a:r>
          </a:p>
          <a:p>
            <a:pPr algn="just" marL="480438" indent="-240219" lvl="1">
              <a:lnSpc>
                <a:spcPts val="3115"/>
              </a:lnSpc>
              <a:buFont typeface="Arial"/>
              <a:buChar char="•"/>
            </a:pPr>
            <a:r>
              <a:rPr lang="en-US" sz="22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 Experience: Spoken-word tracks must be filtered from music-only radio/shuffle modes to avoid a poor user experience.</a:t>
            </a:r>
          </a:p>
          <a:p>
            <a:pPr algn="just">
              <a:lnSpc>
                <a:spcPts val="311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4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Speechiness: Music vs. Spoken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0203" y="1803305"/>
            <a:ext cx="8421110" cy="6540668"/>
          </a:xfrm>
          <a:custGeom>
            <a:avLst/>
            <a:gdLst/>
            <a:ahLst/>
            <a:cxnLst/>
            <a:rect r="r" b="b" t="t" l="l"/>
            <a:pathLst>
              <a:path h="6540668" w="8421110">
                <a:moveTo>
                  <a:pt x="0" y="0"/>
                </a:moveTo>
                <a:lnTo>
                  <a:pt x="8421110" y="0"/>
                </a:lnTo>
                <a:lnTo>
                  <a:pt x="8421110" y="6540668"/>
                </a:lnTo>
                <a:lnTo>
                  <a:pt x="0" y="654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35879" y="2959292"/>
            <a:ext cx="8412729" cy="609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There's a very weak negative correlation; the most popular songs are overwhelmingly shorter (under 10 minutes), while long songs rarely achieve high popularity.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"Hit" Zone: Virtually all high-popularity tracks (popularity &gt; 60) are standard-length songs, clustered in the 2-10 minute range.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 Segment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ation: Long-duration tracks (20+ min) are a different product (e.g., podcasts, DJ mixes) and must be filtered from music-only radio.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Recomm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endation Strategy: Do not use "duration" as a driver for popularity. Instead, focus on audio features within the 2-10 minute "hit zone."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374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1"/>
              </a:lnSpc>
            </a:pPr>
            <a:r>
              <a:rPr lang="en-US" sz="5119" spc="-23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Song Duration's Popularity Impact</a:t>
            </a:r>
          </a:p>
          <a:p>
            <a:pPr algn="l">
              <a:lnSpc>
                <a:spcPts val="5221"/>
              </a:lnSpc>
            </a:pPr>
          </a:p>
          <a:p>
            <a:pPr algn="l">
              <a:lnSpc>
                <a:spcPts val="5221"/>
              </a:lnSpc>
            </a:pPr>
          </a:p>
          <a:p>
            <a:pPr algn="l">
              <a:lnSpc>
                <a:spcPts val="522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5200" y="1944091"/>
            <a:ext cx="8078507" cy="6398817"/>
          </a:xfrm>
          <a:custGeom>
            <a:avLst/>
            <a:gdLst/>
            <a:ahLst/>
            <a:cxnLst/>
            <a:rect r="r" b="b" t="t" l="l"/>
            <a:pathLst>
              <a:path h="6398817" w="8078507">
                <a:moveTo>
                  <a:pt x="0" y="0"/>
                </a:moveTo>
                <a:lnTo>
                  <a:pt x="8078506" y="0"/>
                </a:lnTo>
                <a:lnTo>
                  <a:pt x="8078506" y="6398818"/>
                </a:lnTo>
                <a:lnTo>
                  <a:pt x="0" y="6398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35879" y="2987867"/>
            <a:ext cx="8412729" cy="609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No, there is no strong correlation; the densest cluster of songs has high danceability (0.5-0.8) but very low popularity (near 0).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Popularity isn't Danceability: High popularity is not guaranteed by high danceability. "Hit" songs are spread thinly acr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oss all dance levels.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Long-Tail" of Dance Tracks: The bright yellow spot shows a massive "long-tail" of danceable but unpopular songs, ideal for discovery.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 Segm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entation: High danceability does not equal a "hit." "Popular Hits" and "Dance Club" playlists serve different user needs.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4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Danceability's Link to Popularity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8015" y="1018761"/>
            <a:ext cx="7604667" cy="7728595"/>
          </a:xfrm>
          <a:custGeom>
            <a:avLst/>
            <a:gdLst/>
            <a:ahLst/>
            <a:cxnLst/>
            <a:rect r="r" b="b" t="t" l="l"/>
            <a:pathLst>
              <a:path h="7728595" w="7604667">
                <a:moveTo>
                  <a:pt x="0" y="0"/>
                </a:moveTo>
                <a:lnTo>
                  <a:pt x="7604668" y="0"/>
                </a:lnTo>
                <a:lnTo>
                  <a:pt x="7604668" y="7728596"/>
                </a:lnTo>
                <a:lnTo>
                  <a:pt x="0" y="7728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35879" y="3035492"/>
            <a:ext cx="8412729" cy="647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No, there is no strong correlation; the densest (brightest) cluster shows that the vast majority of high-energy songs have very low popularity.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"Long-Tail" of Energy: The bright yellow cluster is a "long-tail" of high-energy, unpopular tracks. This is the main discovery pool.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Energy Doesn't Predict Hits: "Hit" songs are rare. High popularity exi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sts at all energy levels,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meaning energy is not a good popularity predictor.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High-Energy D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efault Library: The top histogram confirms the library is high-energy by default, making it perfect for "Workout" or "Party" radio.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4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Energy's Link to Popularity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5127" y="1662280"/>
            <a:ext cx="8028941" cy="6441558"/>
          </a:xfrm>
          <a:custGeom>
            <a:avLst/>
            <a:gdLst/>
            <a:ahLst/>
            <a:cxnLst/>
            <a:rect r="r" b="b" t="t" l="l"/>
            <a:pathLst>
              <a:path h="6441558" w="8028941">
                <a:moveTo>
                  <a:pt x="0" y="0"/>
                </a:moveTo>
                <a:lnTo>
                  <a:pt x="8028941" y="0"/>
                </a:lnTo>
                <a:lnTo>
                  <a:pt x="8028941" y="6441558"/>
                </a:lnTo>
                <a:lnTo>
                  <a:pt x="0" y="6441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35879" y="3035492"/>
            <a:ext cx="8412729" cy="381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shows that all high-popularity songs exist in the "normal" loudness cluster (near 0 dB).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Loudness is a Prerequisite: No song with high popularity i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s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ilent. All popular tracks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exist in the "normal" loudness range near 0 dB.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4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Loudness vs. Popularity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623" y="1513620"/>
            <a:ext cx="8773792" cy="6912309"/>
          </a:xfrm>
          <a:custGeom>
            <a:avLst/>
            <a:gdLst/>
            <a:ahLst/>
            <a:cxnLst/>
            <a:rect r="r" b="b" t="t" l="l"/>
            <a:pathLst>
              <a:path h="6912309" w="8773792">
                <a:moveTo>
                  <a:pt x="0" y="0"/>
                </a:moveTo>
                <a:lnTo>
                  <a:pt x="8773792" y="0"/>
                </a:lnTo>
                <a:lnTo>
                  <a:pt x="8773792" y="6912309"/>
                </a:lnTo>
                <a:lnTo>
                  <a:pt x="0" y="6912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88254" y="3035492"/>
            <a:ext cx="8412729" cy="571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valid ranges (from electronic to organic) show an identical "long-tail" distribution where most tracks have zero popularity.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Hits Exist Everywhere: "Hit" songs (the long spikes) exist at all acousticness levels. This feature i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a poor pr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edictor of popularity.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Playlist Segmentation: The different groups (electronic, mixed, acoustic) represent distinct moods. Create separate radio stations for each to improve user experience.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Acousticness and Popularity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5626" y="1276764"/>
            <a:ext cx="8372910" cy="7430957"/>
          </a:xfrm>
          <a:custGeom>
            <a:avLst/>
            <a:gdLst/>
            <a:ahLst/>
            <a:cxnLst/>
            <a:rect r="r" b="b" t="t" l="l"/>
            <a:pathLst>
              <a:path h="7430957" w="8372910">
                <a:moveTo>
                  <a:pt x="0" y="0"/>
                </a:moveTo>
                <a:lnTo>
                  <a:pt x="8372909" y="0"/>
                </a:lnTo>
                <a:lnTo>
                  <a:pt x="8372909" y="7430957"/>
                </a:lnTo>
                <a:lnTo>
                  <a:pt x="0" y="7430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88254" y="3035492"/>
            <a:ext cx="8412729" cy="533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most popular tracks cluster in a "sweet spot" of high danceability (~0.61), high energy (~0.66), and moderate-to-high valence (~0.51).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"Hit" Formula: The "hit" formula is a cluster of high energy, high danceability, and positive feelings.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Radio Feature: The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"au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to-play" and "radio" features should prioritize tracks inside this high-energy/high-danceability "hit cluster."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4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'Hit Song' Audio Profile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825" y="2710213"/>
            <a:ext cx="8795751" cy="4969599"/>
          </a:xfrm>
          <a:custGeom>
            <a:avLst/>
            <a:gdLst/>
            <a:ahLst/>
            <a:cxnLst/>
            <a:rect r="r" b="b" t="t" l="l"/>
            <a:pathLst>
              <a:path h="4969599" w="8795751">
                <a:moveTo>
                  <a:pt x="0" y="0"/>
                </a:moveTo>
                <a:lnTo>
                  <a:pt x="8795751" y="0"/>
                </a:lnTo>
                <a:lnTo>
                  <a:pt x="8795751" y="4969599"/>
                </a:lnTo>
                <a:lnTo>
                  <a:pt x="0" y="496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88254" y="3035492"/>
            <a:ext cx="8412729" cy="685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graph identifies four distinct audio profiles (clusters), but it does not contain popularity data to show which cluster is most popular.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Four Key Products: The clusters define four products: Cluster 0 (Acoustic), Cluster 1 (Spoken Word/Rap), Cluster 2 (Instrumental), and Cluster 3 (Produced Pop).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aylist Segmentation: These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clus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ters are perfect for creating pure radio stations (e.g., "Acoustic Hits," "Instrumental Focus") to improve user experience.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 Separation: Cluster 1 (high speechiness) and Cluster 2 (high instrumentalness) must be filtered from standard "pop" radio.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Audio Feature Clusters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8059" y="952500"/>
            <a:ext cx="7845812" cy="8031146"/>
          </a:xfrm>
          <a:custGeom>
            <a:avLst/>
            <a:gdLst/>
            <a:ahLst/>
            <a:cxnLst/>
            <a:rect r="r" b="b" t="t" l="l"/>
            <a:pathLst>
              <a:path h="8031146" w="7845812">
                <a:moveTo>
                  <a:pt x="0" y="0"/>
                </a:moveTo>
                <a:lnTo>
                  <a:pt x="7845812" y="0"/>
                </a:lnTo>
                <a:lnTo>
                  <a:pt x="7845812" y="8031146"/>
                </a:lnTo>
                <a:lnTo>
                  <a:pt x="0" y="803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046585"/>
            <a:ext cx="8412729" cy="647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"popular mix recipe" requires normal loudness (near 0 dB), but high-popularity tracks exist across a wide range of tempos and in both Major and Minor modes.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Loudness Normalization is Key: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 popula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songs are quiet. This confirms a "loudness normalization" feature is essential for a good user experience.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ode is Not a Hit Predictor: High-popularity tracks (Popularity &gt; 60) are a mix of Major (blue) and Minor (red) keys. Mode is a poor predictor.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"Popular Mix Recipe"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2829" y="2907269"/>
            <a:ext cx="8792503" cy="4472461"/>
          </a:xfrm>
          <a:custGeom>
            <a:avLst/>
            <a:gdLst/>
            <a:ahLst/>
            <a:cxnLst/>
            <a:rect r="r" b="b" t="t" l="l"/>
            <a:pathLst>
              <a:path h="4472461" w="8792503">
                <a:moveTo>
                  <a:pt x="0" y="0"/>
                </a:moveTo>
                <a:lnTo>
                  <a:pt x="8792503" y="0"/>
                </a:lnTo>
                <a:lnTo>
                  <a:pt x="8792503" y="4472462"/>
                </a:lnTo>
                <a:lnTo>
                  <a:pt x="0" y="4472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4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88254" y="3035492"/>
            <a:ext cx="8412729" cy="724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popularity fluctuates significantly, peaking in the 1970s before a sharp crash, followed by a low period and a rebound in the 2000s.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"Classics" Dominate: The 1970s peak shows a powerful "nostalgia" effect. These "classic" tracks are highly popular with the current user base.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"Discovery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Gap": T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racks from the 1980s and early 1990s are the least popular, suggesting a "discovery gap" for these decades.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odern Volatility: Popularity rebounded in the 2000s and has been volatile since, showing no clear upward trend for modern music.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Track Popularity Trends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866" y="2669047"/>
            <a:ext cx="8765483" cy="5182592"/>
          </a:xfrm>
          <a:custGeom>
            <a:avLst/>
            <a:gdLst/>
            <a:ahLst/>
            <a:cxnLst/>
            <a:rect r="r" b="b" t="t" l="l"/>
            <a:pathLst>
              <a:path h="5182592" w="8765483">
                <a:moveTo>
                  <a:pt x="0" y="0"/>
                </a:moveTo>
                <a:lnTo>
                  <a:pt x="8765483" y="0"/>
                </a:lnTo>
                <a:lnTo>
                  <a:pt x="8765483" y="5182592"/>
                </a:lnTo>
                <a:lnTo>
                  <a:pt x="0" y="5182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88254" y="3035492"/>
            <a:ext cx="8412729" cy="724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optimal danceability for popular songs has significantly increased over time, shifting from a peak near 0.5 in 1971 to a peak above 0.7 in 2022.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"Classic" vs. "Modern" Vibe: "Classic Hits" (1970s) playlists will feel audibly less danceable than "Today's Top Hits" (2020s) playlists.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ern "Hit" Formul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a: Mode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rn hits (2010-2022) are consistent. The recommendation engine should prioritize the 0.6-0.8 danceability "sweet spot."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onsistent Shuffle: An "all-time" library shuffle will have an inconsistent vibe, justifying a "consistent energy" smart-play feature.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Evolving Danceability of Hit Songs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7257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7150"/>
            <a:ext cx="6642063" cy="4949408"/>
          </a:xfrm>
          <a:custGeom>
            <a:avLst/>
            <a:gdLst/>
            <a:ahLst/>
            <a:cxnLst/>
            <a:rect r="r" b="b" t="t" l="l"/>
            <a:pathLst>
              <a:path h="4949408" w="6642063">
                <a:moveTo>
                  <a:pt x="0" y="0"/>
                </a:moveTo>
                <a:lnTo>
                  <a:pt x="6642063" y="0"/>
                </a:lnTo>
                <a:lnTo>
                  <a:pt x="6642063" y="4949408"/>
                </a:lnTo>
                <a:lnTo>
                  <a:pt x="0" y="4949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72075"/>
            <a:ext cx="6642063" cy="4957404"/>
          </a:xfrm>
          <a:custGeom>
            <a:avLst/>
            <a:gdLst/>
            <a:ahLst/>
            <a:cxnLst/>
            <a:rect r="r" b="b" t="t" l="l"/>
            <a:pathLst>
              <a:path h="4957404" w="6642063">
                <a:moveTo>
                  <a:pt x="0" y="0"/>
                </a:moveTo>
                <a:lnTo>
                  <a:pt x="6642063" y="0"/>
                </a:lnTo>
                <a:lnTo>
                  <a:pt x="6642063" y="4957404"/>
                </a:lnTo>
                <a:lnTo>
                  <a:pt x="0" y="49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39135" y="3003364"/>
            <a:ext cx="8412729" cy="724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Tempo and key proportions changed dramatically in the late 1970s but have been relatively stable and consistent since 1980.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"Upbeat/Fast" is the Default: "Upbeat" and "Fast" tempos have dominated since 1980. This defines the player's c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 "default" r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adio sound.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rmonic Consistency: The mix of musical keys (dominated by 0, 7, 2, 5, 9) has been very stable, allowing for 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onsistent "harmonic mixing" features.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"Disco" Anomaly: The huge late-70s spike in "Moderate" tempo is a unique audio profile, perfect for creating "Disco Fever" nostalgia playlists.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Key and Tempo Trends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13932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625" y="3060514"/>
            <a:ext cx="8990524" cy="4427833"/>
          </a:xfrm>
          <a:custGeom>
            <a:avLst/>
            <a:gdLst/>
            <a:ahLst/>
            <a:cxnLst/>
            <a:rect r="r" b="b" t="t" l="l"/>
            <a:pathLst>
              <a:path h="4427833" w="8990524">
                <a:moveTo>
                  <a:pt x="0" y="0"/>
                </a:moveTo>
                <a:lnTo>
                  <a:pt x="8990524" y="0"/>
                </a:lnTo>
                <a:lnTo>
                  <a:pt x="8990524" y="4427833"/>
                </a:lnTo>
                <a:lnTo>
                  <a:pt x="0" y="4427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003364"/>
            <a:ext cx="8412729" cy="724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song duration peaked in the mid-1990s at nearly 5 minutes and has been in a steep, consistent decline ever since, trending towards shorter tracks.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"TikTok Effect": The modern trend (since ~2010) is a rapid decline in song length, showing a clear shift tow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ards shorter, punchier tracks.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Playl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ist Pacing: A "90s Hits" radio (the peak) will feel significantly slower-paced and longer than a "Today's Hits" radio (the trough).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Era-Specific Listening: Users listening to 90s music expect longer songs. Users listening to 2020s music expect shorter, more "skippable" tracks.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35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Analyzing Song Duration Trends</a:t>
            </a: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  <a:p>
            <a:pPr algn="l">
              <a:lnSpc>
                <a:spcPts val="5527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13932" y="931957"/>
            <a:ext cx="8996486" cy="7902204"/>
            <a:chOff x="0" y="0"/>
            <a:chExt cx="2369445" cy="2081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9445" cy="2081239"/>
            </a:xfrm>
            <a:custGeom>
              <a:avLst/>
              <a:gdLst/>
              <a:ahLst/>
              <a:cxnLst/>
              <a:rect r="r" b="b" t="t" l="l"/>
              <a:pathLst>
                <a:path h="2081239" w="2369445">
                  <a:moveTo>
                    <a:pt x="48191" y="0"/>
                  </a:moveTo>
                  <a:lnTo>
                    <a:pt x="2321254" y="0"/>
                  </a:lnTo>
                  <a:cubicBezTo>
                    <a:pt x="2334035" y="0"/>
                    <a:pt x="2346293" y="5077"/>
                    <a:pt x="2355330" y="14115"/>
                  </a:cubicBezTo>
                  <a:cubicBezTo>
                    <a:pt x="2364368" y="23152"/>
                    <a:pt x="2369445" y="35410"/>
                    <a:pt x="2369445" y="48191"/>
                  </a:cubicBezTo>
                  <a:lnTo>
                    <a:pt x="2369445" y="2033048"/>
                  </a:lnTo>
                  <a:cubicBezTo>
                    <a:pt x="2369445" y="2045829"/>
                    <a:pt x="2364368" y="2058087"/>
                    <a:pt x="2355330" y="2067124"/>
                  </a:cubicBezTo>
                  <a:cubicBezTo>
                    <a:pt x="2346293" y="2076162"/>
                    <a:pt x="2334035" y="2081239"/>
                    <a:pt x="2321254" y="2081239"/>
                  </a:cubicBezTo>
                  <a:lnTo>
                    <a:pt x="48191" y="2081239"/>
                  </a:lnTo>
                  <a:cubicBezTo>
                    <a:pt x="35410" y="2081239"/>
                    <a:pt x="23152" y="2076162"/>
                    <a:pt x="14115" y="2067124"/>
                  </a:cubicBezTo>
                  <a:cubicBezTo>
                    <a:pt x="5077" y="2058087"/>
                    <a:pt x="0" y="2045829"/>
                    <a:pt x="0" y="2033048"/>
                  </a:cubicBezTo>
                  <a:lnTo>
                    <a:pt x="0" y="48191"/>
                  </a:lnTo>
                  <a:cubicBezTo>
                    <a:pt x="0" y="35410"/>
                    <a:pt x="5077" y="23152"/>
                    <a:pt x="14115" y="14115"/>
                  </a:cubicBezTo>
                  <a:cubicBezTo>
                    <a:pt x="23152" y="5077"/>
                    <a:pt x="35410" y="0"/>
                    <a:pt x="481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69445" cy="214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200" y="3513703"/>
            <a:ext cx="8930396" cy="3291842"/>
          </a:xfrm>
          <a:custGeom>
            <a:avLst/>
            <a:gdLst/>
            <a:ahLst/>
            <a:cxnLst/>
            <a:rect r="r" b="b" t="t" l="l"/>
            <a:pathLst>
              <a:path h="3291842" w="8930396">
                <a:moveTo>
                  <a:pt x="0" y="0"/>
                </a:moveTo>
                <a:lnTo>
                  <a:pt x="8930396" y="0"/>
                </a:lnTo>
                <a:lnTo>
                  <a:pt x="8930396" y="3291842"/>
                </a:lnTo>
                <a:lnTo>
                  <a:pt x="0" y="329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4" t="0" r="-49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39135" y="3003364"/>
            <a:ext cx="8412729" cy="762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1"/>
              </a:lnSpc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Popular music shifted from produced (low acousticness) to acoustic after 1998 and has also become consistently vocal-driven (low instrumentalness).</a:t>
            </a:r>
          </a:p>
          <a:p>
            <a:pPr algn="just">
              <a:lnSpc>
                <a:spcPts val="3071"/>
              </a:lnSpc>
            </a:pP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"Acoustic Era": The "Acoustic Era" began around 1998. Music since then is far more "organic" th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 80s produced tracks.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Music </a:t>
            </a: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Vocal-Driven: The 1980s were a peak for instrumentals. Modern music (since ~1998) is overwhelmingly vocal-driven.</a:t>
            </a:r>
          </a:p>
          <a:p>
            <a:pPr algn="just" marL="473744" indent="-236872" lvl="1">
              <a:lnSpc>
                <a:spcPts val="3071"/>
              </a:lnSpc>
              <a:buFont typeface="Arial"/>
              <a:buChar char="•"/>
            </a:pPr>
            <a:r>
              <a:rPr lang="en-US" sz="21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Era-Based Playlists: Era-based playlists are distinct: 80s radio is electronic, while 2000s radio is acoustic and vocal-focused.</a:t>
            </a: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  <a:p>
            <a:pPr algn="just">
              <a:lnSpc>
                <a:spcPts val="30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93861" y="1343439"/>
            <a:ext cx="7703277" cy="148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5419" spc="-24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Evolving Production Styles Over Time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4412" y="3687473"/>
            <a:ext cx="12179177" cy="25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2"/>
              </a:lnSpc>
              <a:spcBef>
                <a:spcPct val="0"/>
              </a:spcBef>
            </a:pPr>
            <a:r>
              <a:rPr lang="en-US" b="true" sz="13787" spc="-62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DAG4TOkP9dQ</dc:identifier>
  <dcterms:modified xsi:type="dcterms:W3CDTF">2011-08-01T06:04:30Z</dcterms:modified>
  <cp:revision>1</cp:revision>
  <dc:title>Black Modern Gradient Programmer Presentation</dc:title>
</cp:coreProperties>
</file>